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66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351"/>
  </p:normalViewPr>
  <p:slideViewPr>
    <p:cSldViewPr snapToGrid="0">
      <p:cViewPr varScale="1">
        <p:scale>
          <a:sx n="123" d="100"/>
          <a:sy n="123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63956-AFED-9B56-903A-8CDF2B8EC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8BC7F-2393-FF12-A20A-A474AF952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4C69D-82C5-330B-76B9-BA6931B71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ED0A3-34F3-C2C4-BFAD-191B4E1F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7310-2C89-412B-838F-3F8A9952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124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8F07A-C668-7339-CE8E-6023AE1A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A8F55-2BF2-AD17-72D8-9CC40530B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3706B-6A80-DD68-4E1C-2ADDE6FAC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CBB7B-2187-82A8-E2E2-CFEFD766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7BF87-A9A3-6D77-2A11-78CA27B5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567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11C1D-0279-ADF4-4DD2-B49B8ECE4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54166-E3B1-AB15-4994-B84FE17F8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00C77-CAA2-ADAB-937B-C6D578F27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97515-DACE-0FBE-0452-26CB70FA6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D2BFE-6C60-B15D-B970-09BBDCD7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62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24EF6-7045-58FA-8D02-0ACC342C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BBD3A-4CBF-1376-23A7-F7225471E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005B7-C5C0-99F3-ACEA-943A785D6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AFE4E-E04B-981E-8E64-9F52107E8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C004B-4B40-2CD0-0BD4-DB5FC07A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9CCF7-9692-3BB9-F7EC-CE1F2FCB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62539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FF8AA-FEEF-3DB0-9268-0B6EC5423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2855C-16B2-E414-DB7D-167F42E9D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8C641-076C-A686-E3E0-D27FC1A0D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BCBA1-8ADF-0FE1-B154-3C8E0D471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79C55-5FBF-8088-6793-EFCDCD455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33140-06DB-0943-5C28-09B020C79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A5DB1-B82C-ED3D-3090-C03BB2D7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85B406-34C1-E281-08A2-0020B6FE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5849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D09F-7ED5-3683-2841-E0DAAF21B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7AF2E-17AE-59E0-5E54-A976CE27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EC92D-D13C-6FF1-C04F-115B0C291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3CE588-22BA-0E53-111F-F32A9BD8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48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D67335-CA6C-53ED-4EC3-9363094B0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555A2-1F42-8806-DBFF-CE61E8E08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5DEC1-EAD2-EA81-EF10-C4713D6BE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34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5C1D-3B4F-D16D-1E32-E96A21D3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AEB7D-1769-7955-5DCB-E537E6EDD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27449-3EF0-4681-49AB-A08EF6F22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25E1C-647D-ADEE-73A1-A9F51197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EE9AB-476C-F8C3-A924-ABC3A7C98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7748D-CC32-557B-1F8A-68FE20D0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1204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AEA7-8938-E2E2-817F-EE5E6C3F9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DE3282-41D1-404E-C8D9-7D390C666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6C9B-B17C-9224-F94B-FEE8694CC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44D5B-A58D-FD2A-19F5-8300A5829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F11ED-B4DA-FC0C-C65B-D2FADCE8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E2EFB-7C37-7780-F259-1092A7F4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3385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539C4-5195-82B6-EFCE-7E923B51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7988C-92EB-180D-DCD2-35C15B903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F2A77-C04A-13FC-C309-DC80B8A44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9B69E-EED6-F7AB-3A1F-F91CCC65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222EB-3595-D27C-96FD-7CB79CFFB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5756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41E82B-D442-7F3E-CAF2-1E95DC36A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70A96-777D-CC40-F052-DB7B6BC43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92349-BC9B-5452-7275-EC7DCFE51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906DB-CD81-1B80-3A41-AAA86B82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4AF4C-32B6-24A0-D299-1FFCD85C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39929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3039E3-7248-95F2-FD07-381F2F944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091F8-5EDE-6021-EAF7-968A3ACFA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AFAC0-5D32-C662-EF54-C7CBF32BEC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A99A7-61AC-7824-7B7F-5BD9F9A5DD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EDF8F-449A-2828-32AF-60AD9B9B8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99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7" r:id="rId1"/>
    <p:sldLayoutId id="2147484168" r:id="rId2"/>
    <p:sldLayoutId id="2147484169" r:id="rId3"/>
    <p:sldLayoutId id="2147484170" r:id="rId4"/>
    <p:sldLayoutId id="2147484171" r:id="rId5"/>
    <p:sldLayoutId id="2147484172" r:id="rId6"/>
    <p:sldLayoutId id="2147484173" r:id="rId7"/>
    <p:sldLayoutId id="2147484174" r:id="rId8"/>
    <p:sldLayoutId id="2147484175" r:id="rId9"/>
    <p:sldLayoutId id="2147484176" r:id="rId10"/>
    <p:sldLayoutId id="214748417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1656-6753-DEAD-3D00-D7741E50C6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Clinical Coding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759AE-8316-2B14-737A-2B3C5E5635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02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5A67-3D47-B3D3-7C40-2D1FB9419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Coding Engine -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B01B6-686E-0BB3-BB3F-56BFB6A28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AI-assisted system for </a:t>
            </a:r>
          </a:p>
          <a:p>
            <a:pPr lvl="1"/>
            <a:r>
              <a:rPr lang="en-US" dirty="0"/>
              <a:t>Medical billing code suggestions</a:t>
            </a:r>
          </a:p>
          <a:p>
            <a:pPr lvl="1"/>
            <a:r>
              <a:rPr lang="en-US" dirty="0"/>
              <a:t>Prior authorization assessment</a:t>
            </a:r>
          </a:p>
          <a:p>
            <a:pPr lvl="1"/>
            <a:endParaRPr lang="en-US" dirty="0"/>
          </a:p>
          <a:p>
            <a:r>
              <a:rPr lang="en-US" dirty="0"/>
              <a:t>Uses Claude </a:t>
            </a:r>
          </a:p>
          <a:p>
            <a:pPr lvl="1"/>
            <a:r>
              <a:rPr lang="en-US" dirty="0"/>
              <a:t>Suggest codes with clinical reasoning</a:t>
            </a:r>
          </a:p>
          <a:p>
            <a:pPr lvl="1"/>
            <a:r>
              <a:rPr lang="en-US" dirty="0"/>
              <a:t>Payer specific prior auth rules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1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4B54-E67A-095C-4836-766F377C5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5365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Results — 12 Encounters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7F39C-C163-A95B-31CD-49B0FACFF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479119"/>
            <a:ext cx="4088200" cy="12949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Mean Precision: 0.88 	</a:t>
            </a:r>
          </a:p>
          <a:p>
            <a:pPr marL="0" indent="0">
              <a:buNone/>
            </a:pPr>
            <a:r>
              <a:rPr lang="en-US" dirty="0"/>
              <a:t>Mean Recall: 0.93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58031DC-F094-1680-24B5-2583B33933FA}"/>
              </a:ext>
            </a:extLst>
          </p:cNvPr>
          <p:cNvSpPr txBox="1">
            <a:spLocks/>
          </p:cNvSpPr>
          <p:nvPr/>
        </p:nvSpPr>
        <p:spPr>
          <a:xfrm>
            <a:off x="6427403" y="3148746"/>
            <a:ext cx="4784390" cy="2894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r>
              <a:rPr lang="en-US" sz="2200" dirty="0"/>
              <a:t>Recall by encounter type: </a:t>
            </a:r>
          </a:p>
          <a:p>
            <a:pPr lvl="1"/>
            <a:r>
              <a:rPr lang="en-US" sz="1800" dirty="0"/>
              <a:t>Inpatient (COVID): 1.00 </a:t>
            </a:r>
          </a:p>
          <a:p>
            <a:pPr lvl="1"/>
            <a:r>
              <a:rPr lang="en-US" sz="1800" dirty="0"/>
              <a:t>Inpatient (Transplant): 1.00 </a:t>
            </a:r>
          </a:p>
          <a:p>
            <a:pPr lvl="1"/>
            <a:r>
              <a:rPr lang="en-US" sz="1800" dirty="0"/>
              <a:t>Inpatient (CABG): 1.00 </a:t>
            </a:r>
          </a:p>
          <a:p>
            <a:pPr lvl="1"/>
            <a:r>
              <a:rPr lang="en-US" sz="1800" dirty="0"/>
              <a:t>Ambulatory (Diabetic CKD):0.86 </a:t>
            </a:r>
          </a:p>
          <a:p>
            <a:pPr lvl="1"/>
            <a:r>
              <a:rPr lang="en-US" sz="1800" dirty="0"/>
              <a:t>Ambulatory (Urgent care): 0.60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88AB31-8803-D244-07E4-8A9DFEC5E98C}"/>
              </a:ext>
            </a:extLst>
          </p:cNvPr>
          <p:cNvSpPr txBox="1">
            <a:spLocks/>
          </p:cNvSpPr>
          <p:nvPr/>
        </p:nvSpPr>
        <p:spPr>
          <a:xfrm>
            <a:off x="6496673" y="1448736"/>
            <a:ext cx="4088200" cy="134427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300" dirty="0"/>
              <a:t>Evaluation method: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900" dirty="0"/>
              <a:t>Concept-level matching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900" dirty="0"/>
              <a:t>(</a:t>
            </a:r>
            <a:r>
              <a:rPr lang="en-US" sz="1900" dirty="0" err="1"/>
              <a:t>Synthea</a:t>
            </a:r>
            <a:r>
              <a:rPr lang="en-US" sz="1900" dirty="0"/>
              <a:t> SNOMED → ICD-10 suggestions)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66BF0A-7139-508C-7DD1-474564443183}"/>
              </a:ext>
            </a:extLst>
          </p:cNvPr>
          <p:cNvSpPr txBox="1">
            <a:spLocks/>
          </p:cNvSpPr>
          <p:nvPr/>
        </p:nvSpPr>
        <p:spPr>
          <a:xfrm>
            <a:off x="1024127" y="3197916"/>
            <a:ext cx="4784390" cy="2761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Precision by encounter type: </a:t>
            </a:r>
          </a:p>
          <a:p>
            <a:pPr lvl="1"/>
            <a:r>
              <a:rPr lang="en-US" sz="1800" dirty="0"/>
              <a:t>Inpatient (COVID): 1.00 </a:t>
            </a:r>
          </a:p>
          <a:p>
            <a:pPr lvl="1"/>
            <a:r>
              <a:rPr lang="en-US" sz="1800" dirty="0"/>
              <a:t>Inpatient (Transplant): 1.00 </a:t>
            </a:r>
          </a:p>
          <a:p>
            <a:pPr lvl="1"/>
            <a:r>
              <a:rPr lang="en-US" sz="1800" dirty="0"/>
              <a:t>Inpatient (CABG): 0.67 (clinically justified over-suggestion)</a:t>
            </a:r>
          </a:p>
          <a:p>
            <a:pPr lvl="1"/>
            <a:r>
              <a:rPr lang="en-US" sz="1800" dirty="0"/>
              <a:t>Ambulatory (Diabetic CKD):1.00 </a:t>
            </a:r>
          </a:p>
          <a:p>
            <a:pPr lvl="1"/>
            <a:r>
              <a:rPr lang="en-US" sz="1800" dirty="0"/>
              <a:t>Ambulatory (Check-up): 0.71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549688-7E04-F204-6CE6-FDA1EA249881}"/>
              </a:ext>
            </a:extLst>
          </p:cNvPr>
          <p:cNvSpPr/>
          <p:nvPr/>
        </p:nvSpPr>
        <p:spPr>
          <a:xfrm>
            <a:off x="675409" y="1465118"/>
            <a:ext cx="10492464" cy="15378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2C7E8A-BD08-1D22-5E50-EBBA3EE988FF}"/>
              </a:ext>
            </a:extLst>
          </p:cNvPr>
          <p:cNvSpPr/>
          <p:nvPr/>
        </p:nvSpPr>
        <p:spPr>
          <a:xfrm>
            <a:off x="675409" y="3671603"/>
            <a:ext cx="10492464" cy="23712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33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</TotalTime>
  <Words>124</Words>
  <Application>Microsoft Macintosh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Clinical Coding Engine</vt:lpstr>
      <vt:lpstr>Clinical Coding Engine - Overview</vt:lpstr>
      <vt:lpstr>Evaluation Results — 12 Encounters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Coding Engine</dc:title>
  <dc:creator>Microsoft Office User</dc:creator>
  <cp:lastModifiedBy>Microsoft Office User</cp:lastModifiedBy>
  <cp:revision>5</cp:revision>
  <dcterms:created xsi:type="dcterms:W3CDTF">2026-05-20T05:37:56Z</dcterms:created>
  <dcterms:modified xsi:type="dcterms:W3CDTF">2026-05-20T23:46:32Z</dcterms:modified>
</cp:coreProperties>
</file>